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handoutMasterIdLst>
    <p:handoutMasterId r:id="rId12"/>
  </p:handoutMasterIdLst>
  <p:sldIdLst>
    <p:sldId id="259" r:id="rId2"/>
    <p:sldId id="265" r:id="rId3"/>
    <p:sldId id="274" r:id="rId4"/>
    <p:sldId id="266" r:id="rId5"/>
    <p:sldId id="261" r:id="rId6"/>
    <p:sldId id="268" r:id="rId7"/>
    <p:sldId id="267" r:id="rId8"/>
    <p:sldId id="270" r:id="rId9"/>
    <p:sldId id="272" r:id="rId10"/>
    <p:sldId id="273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Estilo medio 2 - Énfasis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8" autoAdjust="0"/>
    <p:restoredTop sz="94671" autoAdjust="0"/>
  </p:normalViewPr>
  <p:slideViewPr>
    <p:cSldViewPr>
      <p:cViewPr>
        <p:scale>
          <a:sx n="76" d="100"/>
          <a:sy n="76" d="100"/>
        </p:scale>
        <p:origin x="-1206" y="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674"/>
    </p:cViewPr>
  </p:outlin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70" d="100"/>
          <a:sy n="70" d="100"/>
        </p:scale>
        <p:origin x="-3282" y="-9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3DB80F-CA8A-4978-8369-44069EA975FD}" type="datetimeFigureOut">
              <a:rPr lang="en-US" smtClean="0"/>
              <a:t>9/7/2015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A82866-4688-4B93-AFB0-5DB52E98865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43148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13 Título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22" name="21 Subtítulo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s-ES" smtClean="0"/>
              <a:t>Haga clic para modificar el estilo de subtítulo del patrón</a:t>
            </a:r>
            <a:endParaRPr kumimoji="0" lang="en-US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C02F4C2-F216-4396-8A0F-91311CD65533}" type="datetimeFigureOut">
              <a:rPr lang="en-US" smtClean="0"/>
              <a:t>9/7/2015</a:t>
            </a:fld>
            <a:endParaRPr lang="en-US"/>
          </a:p>
        </p:txBody>
      </p:sp>
      <p:sp>
        <p:nvSpPr>
          <p:cNvPr id="20" name="19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10" name="9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3D550070-7D7C-448A-945C-7F3487FAD322}" type="slidenum">
              <a:rPr lang="en-US" smtClean="0"/>
              <a:t>‹Nº›</a:t>
            </a:fld>
            <a:endParaRPr lang="en-US"/>
          </a:p>
        </p:txBody>
      </p:sp>
      <p:sp>
        <p:nvSpPr>
          <p:cNvPr id="8" name="7 Elipse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8 Elipse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C02F4C2-F216-4396-8A0F-91311CD65533}" type="datetimeFigureOut">
              <a:rPr lang="en-US" smtClean="0"/>
              <a:t>9/7/2015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3D550070-7D7C-448A-945C-7F3487FAD322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6 Rectángulo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C02F4C2-F216-4396-8A0F-91311CD65533}" type="datetimeFigureOut">
              <a:rPr lang="en-US" smtClean="0"/>
              <a:t>9/7/2015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3D550070-7D7C-448A-945C-7F3487FAD322}" type="slidenum">
              <a:rPr lang="en-US" smtClean="0"/>
              <a:t>‹Nº›</a:t>
            </a:fld>
            <a:endParaRPr lang="en-US"/>
          </a:p>
        </p:txBody>
      </p:sp>
      <p:sp>
        <p:nvSpPr>
          <p:cNvPr id="10" name="9 Rectángulo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7 Elipse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8 Elipse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C02F4C2-F216-4396-8A0F-91311CD65533}" type="datetimeFigureOut">
              <a:rPr lang="en-US" smtClean="0"/>
              <a:t>9/7/2015</a:t>
            </a:fld>
            <a:endParaRPr lang="en-U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3D550070-7D7C-448A-945C-7F3487FAD322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5" name="4 Marcador de contenido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C02F4C2-F216-4396-8A0F-91311CD65533}" type="datetimeFigureOut">
              <a:rPr lang="en-US" smtClean="0"/>
              <a:t>9/7/2015</a:t>
            </a:fld>
            <a:endParaRPr lang="en-US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3D550070-7D7C-448A-945C-7F3487FAD322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C02F4C2-F216-4396-8A0F-91311CD65533}" type="datetimeFigureOut">
              <a:rPr lang="en-US" smtClean="0"/>
              <a:t>9/7/2015</a:t>
            </a:fld>
            <a:endParaRPr lang="en-US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3D550070-7D7C-448A-945C-7F3487FAD322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Rectángulo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C02F4C2-F216-4396-8A0F-91311CD65533}" type="datetimeFigureOut">
              <a:rPr lang="en-US" smtClean="0"/>
              <a:t>9/7/2015</a:t>
            </a:fld>
            <a:endParaRPr lang="en-US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3D550070-7D7C-448A-945C-7F3487FAD322}" type="slidenum">
              <a:rPr lang="en-US" smtClean="0"/>
              <a:t>‹Nº›</a:t>
            </a:fld>
            <a:endParaRPr lang="en-US"/>
          </a:p>
        </p:txBody>
      </p:sp>
      <p:sp>
        <p:nvSpPr>
          <p:cNvPr id="6" name="5 Rectángulo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C02F4C2-F216-4396-8A0F-91311CD65533}" type="datetimeFigureOut">
              <a:rPr lang="en-US" smtClean="0"/>
              <a:t>9/7/2015</a:t>
            </a:fld>
            <a:endParaRPr lang="en-U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3D550070-7D7C-448A-945C-7F3487FAD322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C02F4C2-F216-4396-8A0F-91311CD65533}" type="datetimeFigureOut">
              <a:rPr lang="en-US" smtClean="0"/>
              <a:t>9/7/2015</a:t>
            </a:fld>
            <a:endParaRPr lang="en-U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3D550070-7D7C-448A-945C-7F3487FAD322}" type="slidenum">
              <a:rPr lang="en-US" smtClean="0"/>
              <a:t>‹Nº›</a:t>
            </a:fld>
            <a:endParaRPr lang="en-US"/>
          </a:p>
        </p:txBody>
      </p:sp>
      <p:sp>
        <p:nvSpPr>
          <p:cNvPr id="8" name="7 Rectángulo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>
            <a:extLst/>
          </a:lstStyle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es-ES" smtClean="0"/>
              <a:t>Haga clic en el icono para agregar una imagen</a:t>
            </a:r>
            <a:endParaRPr kumimoji="0" lang="en-US" dirty="0"/>
          </a:p>
        </p:txBody>
      </p:sp>
      <p:sp>
        <p:nvSpPr>
          <p:cNvPr id="9" name="8 Proceso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0" name="9 Proceso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C02F4C2-F216-4396-8A0F-91311CD65533}" type="datetimeFigureOut">
              <a:rPr lang="en-US" smtClean="0"/>
              <a:t>9/7/2015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3D550070-7D7C-448A-945C-7F3487FAD322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C02F4C2-F216-4396-8A0F-91311CD65533}" type="datetimeFigureOut">
              <a:rPr lang="en-US" smtClean="0"/>
              <a:t>9/7/2015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3D550070-7D7C-448A-945C-7F3487FAD322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1000" y="5105400"/>
            <a:ext cx="7924800" cy="762000"/>
          </a:xfrm>
        </p:spPr>
        <p:txBody>
          <a:bodyPr>
            <a:noAutofit/>
          </a:bodyPr>
          <a:lstStyle>
            <a:lvl1pPr marL="0" indent="0" algn="l">
              <a:buNone/>
              <a:defRPr sz="2400">
                <a:solidFill>
                  <a:schemeClr val="tx1">
                    <a:lumMod val="10000"/>
                  </a:schemeClr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381000" y="3810000"/>
            <a:ext cx="7862455" cy="1219200"/>
          </a:xfrm>
        </p:spPr>
        <p:txBody>
          <a:bodyPr/>
          <a:lstStyle>
            <a:lvl1pPr algn="l">
              <a:defRPr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4333695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6 Circular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7 Elipse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10 Anillo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2" name="11 Rectángulo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5" name="4 Marcador de título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9" name="8 Marcador de texto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>
            <a:extLst/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  <a:p>
            <a:pPr lvl="1" eaLnBrk="1" latinLnBrk="0" hangingPunct="1"/>
            <a:r>
              <a:rPr kumimoji="0" lang="es-ES" smtClean="0"/>
              <a:t>Segundo nivel</a:t>
            </a:r>
          </a:p>
          <a:p>
            <a:pPr lvl="2" eaLnBrk="1" latinLnBrk="0" hangingPunct="1"/>
            <a:r>
              <a:rPr kumimoji="0" lang="es-ES" smtClean="0"/>
              <a:t>Tercer nivel</a:t>
            </a:r>
          </a:p>
          <a:p>
            <a:pPr lvl="3" eaLnBrk="1" latinLnBrk="0" hangingPunct="1"/>
            <a:r>
              <a:rPr kumimoji="0" lang="es-ES" smtClean="0"/>
              <a:t>Cuarto nivel</a:t>
            </a:r>
          </a:p>
          <a:p>
            <a:pPr lvl="4" eaLnBrk="1" latinLnBrk="0" hangingPunct="1"/>
            <a:r>
              <a:rPr kumimoji="0" lang="es-ES" smtClean="0"/>
              <a:t>Quinto nivel</a:t>
            </a:r>
            <a:endParaRPr kumimoji="0" lang="en-US"/>
          </a:p>
        </p:txBody>
      </p:sp>
      <p:sp>
        <p:nvSpPr>
          <p:cNvPr id="24" name="23 Marcador de fecha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1C02F4C2-F216-4396-8A0F-91311CD65533}" type="datetimeFigureOut">
              <a:rPr lang="en-US" smtClean="0"/>
              <a:t>9/7/2015</a:t>
            </a:fld>
            <a:endParaRPr lang="en-US"/>
          </a:p>
        </p:txBody>
      </p:sp>
      <p:sp>
        <p:nvSpPr>
          <p:cNvPr id="10" name="9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en-US"/>
          </a:p>
        </p:txBody>
      </p:sp>
      <p:sp>
        <p:nvSpPr>
          <p:cNvPr id="22" name="21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3D550070-7D7C-448A-945C-7F3487FAD322}" type="slidenum">
              <a:rPr lang="en-US" smtClean="0"/>
              <a:t>‹Nº›</a:t>
            </a:fld>
            <a:endParaRPr lang="en-US"/>
          </a:p>
        </p:txBody>
      </p:sp>
      <p:sp>
        <p:nvSpPr>
          <p:cNvPr id="15" name="14 Rectángulo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49" r:id="rId12"/>
  </p:sldLayoutIdLst>
  <p:transition spd="slow">
    <p:fade/>
  </p:transition>
  <p:timing>
    <p:tnLst>
      <p:par>
        <p:cTn id="1" dur="indefinite" restart="never" nodeType="tmRoot"/>
      </p:par>
    </p:tnLst>
  </p:timing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0" y="1371600"/>
            <a:ext cx="5257800" cy="838200"/>
          </a:xfrm>
        </p:spPr>
        <p:txBody>
          <a:bodyPr>
            <a:normAutofit/>
          </a:bodyPr>
          <a:lstStyle/>
          <a:p>
            <a:pPr algn="ctr"/>
            <a:r>
              <a:rPr lang="es-ES" sz="4800" dirty="0">
                <a:solidFill>
                  <a:srgbClr val="92D050"/>
                </a:solidFill>
                <a:ea typeface="ＭＳ Ｐゴシック" charset="0"/>
              </a:rPr>
              <a:t>EASY PARKING</a:t>
            </a:r>
            <a:endParaRPr lang="en-US" sz="4800" dirty="0"/>
          </a:p>
        </p:txBody>
      </p:sp>
      <p:pic>
        <p:nvPicPr>
          <p:cNvPr id="4" name="3 Marcador de contenido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9400" y="2514600"/>
            <a:ext cx="3425031" cy="3425031"/>
          </a:xfrm>
        </p:spPr>
      </p:pic>
    </p:spTree>
    <p:extLst>
      <p:ext uri="{BB962C8B-B14F-4D97-AF65-F5344CB8AC3E}">
        <p14:creationId xmlns:p14="http://schemas.microsoft.com/office/powerpoint/2010/main" val="2653543862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CO" sz="5400" dirty="0" smtClean="0">
                <a:solidFill>
                  <a:srgbClr val="92D050"/>
                </a:solidFill>
              </a:rPr>
              <a:t>PROBLEMA</a:t>
            </a:r>
            <a:endParaRPr lang="es-CO" sz="5400" dirty="0">
              <a:solidFill>
                <a:srgbClr val="92D050"/>
              </a:solidFill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O" dirty="0" smtClean="0">
                <a:solidFill>
                  <a:schemeClr val="accent1">
                    <a:lumMod val="75000"/>
                  </a:schemeClr>
                </a:solidFill>
              </a:rPr>
              <a:t>Falta </a:t>
            </a:r>
            <a:r>
              <a:rPr lang="es-CO" dirty="0">
                <a:solidFill>
                  <a:schemeClr val="accent1">
                    <a:lumMod val="75000"/>
                  </a:schemeClr>
                </a:solidFill>
              </a:rPr>
              <a:t>de seguridad para </a:t>
            </a:r>
            <a:r>
              <a:rPr lang="es-CO" dirty="0" smtClean="0">
                <a:solidFill>
                  <a:schemeClr val="accent1">
                    <a:lumMod val="75000"/>
                  </a:schemeClr>
                </a:solidFill>
              </a:rPr>
              <a:t>el conductor </a:t>
            </a:r>
            <a:r>
              <a:rPr lang="es-CO" dirty="0">
                <a:solidFill>
                  <a:schemeClr val="accent1">
                    <a:lumMod val="75000"/>
                  </a:schemeClr>
                </a:solidFill>
              </a:rPr>
              <a:t>y su vehículo</a:t>
            </a:r>
            <a:r>
              <a:rPr lang="es-CO" dirty="0" smtClean="0">
                <a:solidFill>
                  <a:schemeClr val="accent1">
                    <a:lumMod val="75000"/>
                  </a:schemeClr>
                </a:solidFill>
              </a:rPr>
              <a:t>.</a:t>
            </a:r>
          </a:p>
          <a:p>
            <a:endParaRPr lang="es-CO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s-CO" dirty="0" smtClean="0">
                <a:solidFill>
                  <a:schemeClr val="accent1">
                    <a:lumMod val="75000"/>
                  </a:schemeClr>
                </a:solidFill>
              </a:rPr>
              <a:t>Pérdida </a:t>
            </a:r>
            <a:r>
              <a:rPr lang="es-CO" dirty="0">
                <a:solidFill>
                  <a:schemeClr val="accent1">
                    <a:lumMod val="75000"/>
                  </a:schemeClr>
                </a:solidFill>
              </a:rPr>
              <a:t>de tiempo inoficiosa</a:t>
            </a:r>
            <a:r>
              <a:rPr lang="es-CO" dirty="0" smtClean="0">
                <a:solidFill>
                  <a:schemeClr val="accent1">
                    <a:lumMod val="75000"/>
                  </a:schemeClr>
                </a:solidFill>
              </a:rPr>
              <a:t>.</a:t>
            </a:r>
          </a:p>
          <a:p>
            <a:endParaRPr lang="es-CO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s-CO" dirty="0" smtClean="0">
                <a:solidFill>
                  <a:schemeClr val="accent1">
                    <a:lumMod val="75000"/>
                  </a:schemeClr>
                </a:solidFill>
              </a:rPr>
              <a:t>Mayor </a:t>
            </a:r>
            <a:r>
              <a:rPr lang="es-CO" dirty="0">
                <a:solidFill>
                  <a:schemeClr val="accent1">
                    <a:lumMod val="75000"/>
                  </a:schemeClr>
                </a:solidFill>
              </a:rPr>
              <a:t>gasto </a:t>
            </a:r>
            <a:r>
              <a:rPr lang="es-CO" dirty="0" smtClean="0">
                <a:solidFill>
                  <a:schemeClr val="accent1">
                    <a:lumMod val="75000"/>
                  </a:schemeClr>
                </a:solidFill>
              </a:rPr>
              <a:t>de combustible </a:t>
            </a:r>
            <a:r>
              <a:rPr lang="es-CO" dirty="0">
                <a:solidFill>
                  <a:schemeClr val="accent1">
                    <a:lumMod val="75000"/>
                  </a:schemeClr>
                </a:solidFill>
              </a:rPr>
              <a:t>(</a:t>
            </a:r>
            <a:r>
              <a:rPr lang="es-CO" dirty="0" smtClean="0">
                <a:solidFill>
                  <a:schemeClr val="accent1">
                    <a:lumMod val="75000"/>
                  </a:schemeClr>
                </a:solidFill>
              </a:rPr>
              <a:t>dinero)</a:t>
            </a:r>
            <a:endParaRPr lang="es-CO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8022649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 dirty="0"/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614" t="23630" r="46858" b="16438"/>
          <a:stretch/>
        </p:blipFill>
        <p:spPr bwMode="auto">
          <a:xfrm>
            <a:off x="2667000" y="457199"/>
            <a:ext cx="4038600" cy="60406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909071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CO" sz="5400" dirty="0" smtClean="0">
                <a:solidFill>
                  <a:srgbClr val="92D050"/>
                </a:solidFill>
              </a:rPr>
              <a:t>SOLUCIÓN</a:t>
            </a:r>
            <a:endParaRPr lang="es-CO" sz="5400" dirty="0">
              <a:solidFill>
                <a:srgbClr val="92D050"/>
              </a:solidFill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s-CO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4" name="3 Imagen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772" r="4342"/>
          <a:stretch/>
        </p:blipFill>
        <p:spPr>
          <a:xfrm>
            <a:off x="1066800" y="1981200"/>
            <a:ext cx="3733800" cy="3003550"/>
          </a:xfrm>
          <a:prstGeom prst="rect">
            <a:avLst/>
          </a:prstGeom>
        </p:spPr>
      </p:pic>
      <p:pic>
        <p:nvPicPr>
          <p:cNvPr id="5" name="4 Imagen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3000" y="1981200"/>
            <a:ext cx="3908498" cy="2886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7407773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304800" y="274638"/>
            <a:ext cx="8628888" cy="1143000"/>
          </a:xfrm>
        </p:spPr>
        <p:txBody>
          <a:bodyPr/>
          <a:lstStyle/>
          <a:p>
            <a:pPr algn="ctr"/>
            <a:r>
              <a:rPr lang="es-CO" sz="3600" dirty="0" smtClean="0">
                <a:solidFill>
                  <a:srgbClr val="92D050"/>
                </a:solidFill>
              </a:rPr>
              <a:t>FLUJO DE INGRESOS</a:t>
            </a:r>
            <a:endParaRPr lang="es-CO" sz="3600" dirty="0">
              <a:solidFill>
                <a:srgbClr val="92D050"/>
              </a:solidFill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525963"/>
          </a:xfrm>
        </p:spPr>
        <p:txBody>
          <a:bodyPr/>
          <a:lstStyle/>
          <a:p>
            <a:pPr marL="0" indent="0">
              <a:buNone/>
            </a:pPr>
            <a:endParaRPr lang="es-CO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4" name="3 Image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2133600"/>
            <a:ext cx="6223722" cy="350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5712631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533400"/>
            <a:ext cx="8686800" cy="838200"/>
          </a:xfrm>
        </p:spPr>
        <p:txBody>
          <a:bodyPr/>
          <a:lstStyle/>
          <a:p>
            <a:pPr algn="ctr"/>
            <a:r>
              <a:rPr lang="es-CO" sz="4400" dirty="0" smtClean="0">
                <a:solidFill>
                  <a:srgbClr val="92D050"/>
                </a:solidFill>
              </a:rPr>
              <a:t>SEGMENTO DE CLIENTES</a:t>
            </a:r>
            <a:endParaRPr lang="es-CO" sz="4400" dirty="0">
              <a:solidFill>
                <a:srgbClr val="92D050"/>
              </a:solidFill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752600"/>
            <a:ext cx="8229600" cy="3535363"/>
          </a:xfrm>
        </p:spPr>
        <p:txBody>
          <a:bodyPr/>
          <a:lstStyle/>
          <a:p>
            <a:pPr marL="0" indent="0">
              <a:buNone/>
            </a:pPr>
            <a:r>
              <a:rPr lang="es-CO" dirty="0" smtClean="0">
                <a:solidFill>
                  <a:schemeClr val="accent1">
                    <a:lumMod val="75000"/>
                  </a:schemeClr>
                </a:solidFill>
              </a:rPr>
              <a:t>Persona </a:t>
            </a:r>
            <a:r>
              <a:rPr lang="es-CO" dirty="0">
                <a:solidFill>
                  <a:schemeClr val="accent1">
                    <a:lumMod val="75000"/>
                  </a:schemeClr>
                </a:solidFill>
              </a:rPr>
              <a:t>que posea </a:t>
            </a:r>
            <a:r>
              <a:rPr lang="es-CO" dirty="0" smtClean="0">
                <a:solidFill>
                  <a:schemeClr val="accent1">
                    <a:lumMod val="75000"/>
                  </a:schemeClr>
                </a:solidFill>
              </a:rPr>
              <a:t>vehículo automotor </a:t>
            </a:r>
            <a:r>
              <a:rPr lang="es-CO" dirty="0">
                <a:solidFill>
                  <a:schemeClr val="accent1">
                    <a:lumMod val="75000"/>
                  </a:schemeClr>
                </a:solidFill>
              </a:rPr>
              <a:t>y teléfonos </a:t>
            </a:r>
            <a:r>
              <a:rPr lang="es-CO" dirty="0" smtClean="0">
                <a:solidFill>
                  <a:schemeClr val="accent1">
                    <a:lumMod val="75000"/>
                  </a:schemeClr>
                </a:solidFill>
              </a:rPr>
              <a:t>inteligentes en </a:t>
            </a:r>
            <a:r>
              <a:rPr lang="es-CO" dirty="0">
                <a:solidFill>
                  <a:schemeClr val="accent1">
                    <a:lumMod val="75000"/>
                  </a:schemeClr>
                </a:solidFill>
              </a:rPr>
              <a:t>la ciudad de Medellín.</a:t>
            </a:r>
          </a:p>
        </p:txBody>
      </p:sp>
      <p:pic>
        <p:nvPicPr>
          <p:cNvPr id="4" name="3 Image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1800" y="2895600"/>
            <a:ext cx="4800600" cy="3314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2149740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33400" y="914400"/>
            <a:ext cx="8229600" cy="1219200"/>
          </a:xfrm>
        </p:spPr>
        <p:txBody>
          <a:bodyPr/>
          <a:lstStyle/>
          <a:p>
            <a:pPr algn="ctr"/>
            <a:r>
              <a:rPr lang="es-CO" sz="4800" dirty="0" smtClean="0">
                <a:solidFill>
                  <a:srgbClr val="92D050"/>
                </a:solidFill>
              </a:rPr>
              <a:t>PROPUESTA DE VALOR</a:t>
            </a:r>
            <a:endParaRPr lang="es-CO" sz="4800" dirty="0">
              <a:solidFill>
                <a:srgbClr val="92D050"/>
              </a:solidFill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04800" y="2209800"/>
            <a:ext cx="8229600" cy="391636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s-CO" sz="54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SIMPLE</a:t>
            </a:r>
          </a:p>
          <a:p>
            <a:pPr marL="0" indent="0" algn="ctr">
              <a:buNone/>
            </a:pPr>
            <a:r>
              <a:rPr lang="es-CO" sz="54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MENTE</a:t>
            </a:r>
          </a:p>
          <a:p>
            <a:pPr marL="0" indent="0" algn="ctr">
              <a:buNone/>
            </a:pPr>
            <a:r>
              <a:rPr lang="es-CO" sz="54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MÁS</a:t>
            </a:r>
          </a:p>
          <a:p>
            <a:pPr marL="0" indent="0" algn="ctr">
              <a:buNone/>
            </a:pPr>
            <a:r>
              <a:rPr lang="es-CO" sz="54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FÁCIL</a:t>
            </a:r>
          </a:p>
        </p:txBody>
      </p:sp>
    </p:spTree>
    <p:extLst>
      <p:ext uri="{BB962C8B-B14F-4D97-AF65-F5344CB8AC3E}">
        <p14:creationId xmlns:p14="http://schemas.microsoft.com/office/powerpoint/2010/main" val="3144358044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5800" y="304800"/>
            <a:ext cx="8001000" cy="838200"/>
          </a:xfrm>
        </p:spPr>
        <p:txBody>
          <a:bodyPr>
            <a:normAutofit/>
          </a:bodyPr>
          <a:lstStyle/>
          <a:p>
            <a:pPr algn="ctr"/>
            <a:r>
              <a:rPr lang="es-CO" dirty="0" smtClean="0">
                <a:solidFill>
                  <a:srgbClr val="92D050"/>
                </a:solidFill>
              </a:rPr>
              <a:t>VENTAJAS COMPETITIVAS</a:t>
            </a:r>
            <a:endParaRPr lang="es-CO" dirty="0">
              <a:solidFill>
                <a:srgbClr val="92D050"/>
              </a:solidFill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81000" y="2133600"/>
            <a:ext cx="8229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CO" sz="3600" dirty="0" smtClean="0">
                <a:solidFill>
                  <a:schemeClr val="accent1">
                    <a:lumMod val="75000"/>
                  </a:schemeClr>
                </a:solidFill>
              </a:rPr>
              <a:t>Desarrollo propio </a:t>
            </a:r>
          </a:p>
          <a:p>
            <a:pPr marL="0" indent="0">
              <a:buNone/>
            </a:pPr>
            <a:r>
              <a:rPr lang="es-CO" sz="3600" dirty="0" smtClean="0">
                <a:solidFill>
                  <a:schemeClr val="accent1">
                    <a:lumMod val="75000"/>
                  </a:schemeClr>
                </a:solidFill>
              </a:rPr>
              <a:t>de la </a:t>
            </a:r>
            <a:r>
              <a:rPr lang="es-CO" sz="3600" dirty="0">
                <a:solidFill>
                  <a:schemeClr val="accent1">
                    <a:lumMod val="75000"/>
                  </a:schemeClr>
                </a:solidFill>
              </a:rPr>
              <a:t>aplicación</a:t>
            </a:r>
            <a:r>
              <a:rPr lang="es-CO" sz="3600" dirty="0" smtClean="0">
                <a:solidFill>
                  <a:schemeClr val="accent1">
                    <a:lumMod val="75000"/>
                  </a:schemeClr>
                </a:solidFill>
              </a:rPr>
              <a:t>.</a:t>
            </a:r>
          </a:p>
          <a:p>
            <a:endParaRPr lang="es-CO" sz="3600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4" name="3 Image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5800" y="1295400"/>
            <a:ext cx="4339790" cy="502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4780671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33400" y="228600"/>
            <a:ext cx="8153400" cy="914400"/>
          </a:xfrm>
        </p:spPr>
        <p:txBody>
          <a:bodyPr>
            <a:normAutofit/>
          </a:bodyPr>
          <a:lstStyle/>
          <a:p>
            <a:r>
              <a:rPr lang="es-CO" sz="3600" dirty="0" smtClean="0">
                <a:solidFill>
                  <a:srgbClr val="92D050"/>
                </a:solidFill>
              </a:rPr>
              <a:t>ESTRUCTURA DE COSTOS</a:t>
            </a:r>
            <a:endParaRPr lang="es-CO" sz="3600" dirty="0">
              <a:solidFill>
                <a:srgbClr val="92D050"/>
              </a:solidFill>
            </a:endParaRP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371600"/>
            <a:ext cx="4040188" cy="639762"/>
          </a:xfrm>
        </p:spPr>
        <p:txBody>
          <a:bodyPr>
            <a:normAutofit/>
          </a:bodyPr>
          <a:lstStyle/>
          <a:p>
            <a:r>
              <a:rPr lang="es-CO" sz="2800" dirty="0" smtClean="0">
                <a:solidFill>
                  <a:schemeClr val="accent1">
                    <a:lumMod val="75000"/>
                  </a:schemeClr>
                </a:solidFill>
              </a:rPr>
              <a:t>INVERSION INICIAL</a:t>
            </a:r>
            <a:endParaRPr lang="es-CO" sz="28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5" name="4 Marcador de texto"/>
          <p:cNvSpPr>
            <a:spLocks noGrp="1"/>
          </p:cNvSpPr>
          <p:nvPr>
            <p:ph type="body" sz="half" idx="3"/>
          </p:nvPr>
        </p:nvSpPr>
        <p:spPr>
          <a:xfrm>
            <a:off x="4648200" y="1371600"/>
            <a:ext cx="4041775" cy="639762"/>
          </a:xfrm>
        </p:spPr>
        <p:txBody>
          <a:bodyPr>
            <a:normAutofit/>
          </a:bodyPr>
          <a:lstStyle/>
          <a:p>
            <a:r>
              <a:rPr lang="es-CO" sz="2800" dirty="0" smtClean="0">
                <a:solidFill>
                  <a:schemeClr val="accent1">
                    <a:lumMod val="75000"/>
                  </a:schemeClr>
                </a:solidFill>
              </a:rPr>
              <a:t>COSTOS Y GASTOS</a:t>
            </a:r>
            <a:endParaRPr lang="es-CO" sz="28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" name="3 Marcador de contenido"/>
          <p:cNvSpPr>
            <a:spLocks noGrp="1"/>
          </p:cNvSpPr>
          <p:nvPr>
            <p:ph sz="quarter" idx="2"/>
          </p:nvPr>
        </p:nvSpPr>
        <p:spPr>
          <a:xfrm>
            <a:off x="457200" y="2057400"/>
            <a:ext cx="4023360" cy="4114800"/>
          </a:xfrm>
        </p:spPr>
        <p:txBody>
          <a:bodyPr>
            <a:normAutofit/>
          </a:bodyPr>
          <a:lstStyle/>
          <a:p>
            <a:r>
              <a:rPr lang="es-CO" sz="2800" dirty="0"/>
              <a:t>Inversión inicial para equipos y </a:t>
            </a:r>
            <a:r>
              <a:rPr lang="es-CO" sz="2800" dirty="0" smtClean="0"/>
              <a:t>una posible </a:t>
            </a:r>
            <a:r>
              <a:rPr lang="es-CO" sz="2800" dirty="0"/>
              <a:t>licencia de software.</a:t>
            </a:r>
          </a:p>
          <a:p>
            <a:r>
              <a:rPr lang="es-CO" sz="2800" dirty="0" smtClean="0"/>
              <a:t>Pruebas </a:t>
            </a:r>
            <a:r>
              <a:rPr lang="es-CO" sz="2800" dirty="0"/>
              <a:t>de manejo de la </a:t>
            </a:r>
            <a:r>
              <a:rPr lang="es-CO" sz="2800" dirty="0" smtClean="0"/>
              <a:t>aplicación Diseño </a:t>
            </a:r>
            <a:r>
              <a:rPr lang="es-CO" sz="2800" dirty="0"/>
              <a:t>y publicidad.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8200" y="2057400"/>
            <a:ext cx="4023360" cy="4114800"/>
          </a:xfrm>
        </p:spPr>
        <p:txBody>
          <a:bodyPr>
            <a:normAutofit/>
          </a:bodyPr>
          <a:lstStyle/>
          <a:p>
            <a:r>
              <a:rPr lang="es-CO" sz="2800" dirty="0"/>
              <a:t>Gastos en el mantenimiento y actualización </a:t>
            </a:r>
            <a:r>
              <a:rPr lang="es-CO" sz="2800" dirty="0" smtClean="0"/>
              <a:t>de nuestra </a:t>
            </a:r>
            <a:r>
              <a:rPr lang="es-CO" sz="2800" dirty="0"/>
              <a:t>aplicación.</a:t>
            </a:r>
          </a:p>
          <a:p>
            <a:r>
              <a:rPr lang="es-CO" sz="2800" dirty="0" smtClean="0"/>
              <a:t>Publicidad </a:t>
            </a:r>
            <a:r>
              <a:rPr lang="es-CO" sz="2800" dirty="0"/>
              <a:t>para la actualización de los lugares </a:t>
            </a:r>
            <a:r>
              <a:rPr lang="es-CO" sz="2800" dirty="0" smtClean="0"/>
              <a:t>de parqueo</a:t>
            </a:r>
            <a:r>
              <a:rPr lang="es-CO" sz="2800" dirty="0"/>
              <a:t>.</a:t>
            </a:r>
          </a:p>
          <a:p>
            <a:r>
              <a:rPr lang="es-CO" sz="2800" dirty="0" smtClean="0"/>
              <a:t>Nomina</a:t>
            </a:r>
            <a:r>
              <a:rPr lang="es-CO" sz="2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1323291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 dirty="0" smtClean="0"/>
          </a:p>
          <a:p>
            <a:pPr marL="0" indent="0">
              <a:buNone/>
            </a:pPr>
            <a:endParaRPr lang="es-CO" dirty="0" smtClean="0"/>
          </a:p>
          <a:p>
            <a:pPr marL="0" indent="0" algn="ctr">
              <a:buNone/>
            </a:pPr>
            <a:r>
              <a:rPr lang="es-CO" sz="8000" b="1" dirty="0">
                <a:solidFill>
                  <a:srgbClr val="92D050"/>
                </a:solidFill>
              </a:rPr>
              <a:t>¡</a:t>
            </a:r>
            <a:r>
              <a:rPr lang="es-CO" sz="8000" b="1" dirty="0" smtClean="0">
                <a:solidFill>
                  <a:srgbClr val="92D050"/>
                </a:solidFill>
              </a:rPr>
              <a:t>GRACIAS!</a:t>
            </a:r>
            <a:endParaRPr lang="es-CO" sz="8000" b="1" dirty="0">
              <a:solidFill>
                <a:srgbClr val="92D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3023677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olsticio">
  <a:themeElements>
    <a:clrScheme name="Solsticio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Solsticio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olsticio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436</TotalTime>
  <Words>115</Words>
  <Application>Microsoft Office PowerPoint</Application>
  <PresentationFormat>Presentación en pantalla (4:3)</PresentationFormat>
  <Paragraphs>30</Paragraphs>
  <Slides>10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1" baseType="lpstr">
      <vt:lpstr>Solsticio</vt:lpstr>
      <vt:lpstr>EASY PARKING</vt:lpstr>
      <vt:lpstr>PROBLEMA</vt:lpstr>
      <vt:lpstr>Presentación de PowerPoint</vt:lpstr>
      <vt:lpstr>SOLUCIÓN</vt:lpstr>
      <vt:lpstr>FLUJO DE INGRESOS</vt:lpstr>
      <vt:lpstr>SEGMENTO DE CLIENTES</vt:lpstr>
      <vt:lpstr>PROPUESTA DE VALOR</vt:lpstr>
      <vt:lpstr>VENTAJAS COMPETITIVAS</vt:lpstr>
      <vt:lpstr>ESTRUCTURA DE COSTOS</vt:lpstr>
      <vt:lpstr>Presentación de PowerPoint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Jaime Betancur</dc:creator>
  <cp:lastModifiedBy>Luffi</cp:lastModifiedBy>
  <cp:revision>27</cp:revision>
  <dcterms:created xsi:type="dcterms:W3CDTF">2014-01-22T20:03:45Z</dcterms:created>
  <dcterms:modified xsi:type="dcterms:W3CDTF">2015-09-07T18:46:16Z</dcterms:modified>
</cp:coreProperties>
</file>